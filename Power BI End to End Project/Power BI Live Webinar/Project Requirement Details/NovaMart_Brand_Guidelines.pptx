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Poppi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oppins-regular.fntdata"/><Relationship Id="rId14" Type="http://schemas.openxmlformats.org/officeDocument/2006/relationships/slide" Target="slides/slide10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s://www.youtube.com/@datawithpankaj_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@datawithpankaj_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vaMart_Canvas_Backgroun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548640" y="39776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FB627"/>
                </a:solidFill>
                <a:latin typeface="Courier New"/>
                <a:ea typeface="Courier New"/>
                <a:cs typeface="Courier New"/>
                <a:sym typeface="Courier New"/>
              </a:rPr>
              <a:t>BRAND GUIDELINES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02920" y="429768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oppin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 identity for NovaMart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48640" y="521208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C9E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4C9E2"/>
                </a:solidFill>
                <a:latin typeface="Calibri"/>
                <a:ea typeface="Calibri"/>
                <a:cs typeface="Calibri"/>
                <a:sym typeface="Calibri"/>
              </a:rPr>
              <a:t>Logo, color, typography, and the Power BI report theme — one consistent system across every NovaMart analytics deliverable.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C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A90C4"/>
                </a:solidFill>
                <a:latin typeface="Courier New"/>
                <a:ea typeface="Courier New"/>
                <a:cs typeface="Courier New"/>
                <a:sym typeface="Courier New"/>
              </a:rPr>
              <a:t>Version 1.0  ·  September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7251192" y="63550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C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3C4"/>
                </a:solidFill>
                <a:latin typeface="Calibri"/>
                <a:ea typeface="Calibri"/>
                <a:cs typeface="Calibri"/>
                <a:sym typeface="Calibri"/>
              </a:rPr>
              <a:t>Prepared by Data With Pankaj  ·  </a:t>
            </a:r>
            <a:r>
              <a:rPr b="0" i="0" lang="en-US" sz="9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youtube.com/@datawithpankaj_com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4A"/>
                </a:solidFill>
                <a:latin typeface="Courier New"/>
                <a:ea typeface="Courier New"/>
                <a:cs typeface="Courier New"/>
                <a:sym typeface="Courier New"/>
              </a:rPr>
              <a:t>WHO WE 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A retail brand built on trusted data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548640" y="1691640"/>
            <a:ext cx="60350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NovaMart is a multinational retail chain selling electronics, appliances, furniture, clothing, sporting goods, and office supplies — in‑store and online. This identity system exists so that every report, deck, and dashboard we ship looks and feels like one company, not five disconnected tools.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Brand attributes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4572000"/>
            <a:ext cx="347472" cy="347472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548640" y="45537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Poppins"/>
              <a:buNone/>
            </a:pPr>
            <a:r>
              <a:rPr b="1" i="0" lang="en-US" sz="129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2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051560" y="454456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Trusted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2880360" y="454456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Consistent numbers leadership can rely 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5047488"/>
            <a:ext cx="347472" cy="347472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548640" y="50292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Poppins"/>
              <a:buNone/>
            </a:pPr>
            <a:r>
              <a:rPr b="1" i="0" lang="en-US" sz="129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2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051560" y="5020056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Energetic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2880360" y="5020056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A retail brand that feels alive, not clinical.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5522976"/>
            <a:ext cx="347472" cy="347472"/>
          </a:xfrm>
          <a:prstGeom prst="ellipse">
            <a:avLst/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548640" y="55046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Poppins"/>
              <a:buNone/>
            </a:pPr>
            <a:r>
              <a:rPr b="1" i="0" lang="en-US" sz="129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2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1051560" y="5495544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Data‑driven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2880360" y="549554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Every visual choice supports faster reading.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5998464"/>
            <a:ext cx="347472" cy="347472"/>
          </a:xfrm>
          <a:prstGeom prst="ellipse">
            <a:avLst/>
          </a:prstGeom>
          <a:solidFill>
            <a:srgbClr val="2BB6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548640" y="59801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Poppins"/>
              <a:buNone/>
            </a:pPr>
            <a:r>
              <a:rPr b="1" i="0" lang="en-US" sz="129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2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1051560" y="597103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Approachable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2880360" y="597103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Clear language, clear charts, no jargon.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040880" y="1691640"/>
            <a:ext cx="4572000" cy="4572000"/>
          </a:xfrm>
          <a:prstGeom prst="roundRect">
            <a:avLst>
              <a:gd fmla="val 2800" name="adj"/>
            </a:avLst>
          </a:prstGeom>
          <a:solidFill>
            <a:srgbClr val="EE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ovaMart_Logo.png" id="48" name="Google Shape;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3429000"/>
            <a:ext cx="3931920" cy="108813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 txBox="1"/>
          <p:nvPr/>
        </p:nvSpPr>
        <p:spPr>
          <a:xfrm>
            <a:off x="7360920" y="47548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5E"/>
              </a:buClr>
              <a:buSzPts val="1300"/>
              <a:buFont typeface="Poppins"/>
              <a:buNone/>
            </a:pPr>
            <a:r>
              <a:rPr b="0" i="1" lang="en-US" sz="1300" u="none" cap="none" strike="noStrike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rPr>
              <a:t>“One system, every deliverable.”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NovaMart Brand Guidelines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10908792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02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4A"/>
                </a:solidFill>
                <a:latin typeface="Courier New"/>
                <a:ea typeface="Courier New"/>
                <a:cs typeface="Courier New"/>
                <a:sym typeface="Courier New"/>
              </a:rPr>
              <a:t>LOGO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Primary lockup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1691640"/>
            <a:ext cx="11091672" cy="2834640"/>
          </a:xfrm>
          <a:prstGeom prst="roundRect">
            <a:avLst>
              <a:gd fmla="val 4516" name="adj"/>
            </a:avLst>
          </a:prstGeom>
          <a:solidFill>
            <a:srgbClr val="EE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ovaMart_Logo.png" id="60" name="Google Shape;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9584" y="2514600"/>
            <a:ext cx="5120640" cy="142280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 txBox="1"/>
          <p:nvPr/>
        </p:nvSpPr>
        <p:spPr>
          <a:xfrm>
            <a:off x="548640" y="4800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Clear space &amp; minimum size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548640" y="5193792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6B4A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868680" y="519379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Keep clear space equal to the height of the “N” in Nova on all sides — never let text, edges, or imagery enter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548640" y="5650992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6B4A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868680" y="565099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Minimum digital width: 120px. Minimum print width: 1 inch.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548640" y="6108192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6B4A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868680" y="610819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The mark alone (badge + spark) may be used where space is tight — app icons, favicons, social avatars.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NovaMart Brand Guidelines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10908792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03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4A"/>
                </a:solidFill>
                <a:latin typeface="Courier New"/>
                <a:ea typeface="Courier New"/>
                <a:cs typeface="Courier New"/>
                <a:sym typeface="Courier New"/>
              </a:rPr>
              <a:t>LOGO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Using the mark correctly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fmla="val 2857" name="adj"/>
            </a:avLst>
          </a:prstGeom>
          <a:solidFill>
            <a:srgbClr val="F1FB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868680" y="1965960"/>
            <a:ext cx="384048" cy="384048"/>
          </a:xfrm>
          <a:prstGeom prst="ellipse">
            <a:avLst/>
          </a:prstGeom>
          <a:solidFill>
            <a:srgbClr val="2BB6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868680" y="19476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Poppins"/>
              <a:buNone/>
            </a:pPr>
            <a:r>
              <a:rPr b="1" i="0" lang="en-US" sz="14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1417320" y="197510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68680" y="26060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B673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1143000" y="2606040"/>
            <a:ext cx="4526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Use the provided SVG/PNG files at their native proportions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868680" y="317296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B673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1143000" y="3172968"/>
            <a:ext cx="4526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Place on white, Mist, or Indigo backgrounds for full contrast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868680" y="3739896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B673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1143000" y="3739896"/>
            <a:ext cx="4526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Maintain the minimum clear space at every size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868680" y="4306824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B673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1143000" y="4306824"/>
            <a:ext cx="4526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Use the mark alone for small or square placements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217920" y="1691640"/>
            <a:ext cx="5422392" cy="4480560"/>
          </a:xfrm>
          <a:prstGeom prst="roundRect">
            <a:avLst>
              <a:gd fmla="val 2857" name="adj"/>
            </a:avLst>
          </a:prstGeom>
          <a:solidFill>
            <a:srgbClr val="FDF1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6537960" y="1965960"/>
            <a:ext cx="384048" cy="384048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6537960" y="19476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8"/>
              <a:buFont typeface="Poppins"/>
              <a:buNone/>
            </a:pPr>
            <a:r>
              <a:rPr b="1" i="0" lang="en-US" sz="14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✕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086600" y="197510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Don't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6537960" y="26060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7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5D75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6812280" y="2606040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Recolor the mark outside the brand palette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6537960" y="317296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7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5D75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6812280" y="3172968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Stretch, skew, rotate, or add drop shadows / outlines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6537960" y="3739896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7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5D75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6812280" y="3739896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Place on busy photography without a solid backing shape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6537960" y="4306824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7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5D75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6812280" y="4306824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Recreate the wordmark in a different typeface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NovaMart Brand Guidelines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10908792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04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4A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Primary palette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fmla="val 5455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713232" y="3044952"/>
            <a:ext cx="3264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Nova Indigo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13232" y="3337560"/>
            <a:ext cx="3264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#1E2A5E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13232" y="1837944"/>
            <a:ext cx="3264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— wordmark, chrome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325112" y="1691640"/>
            <a:ext cx="3593592" cy="2011680"/>
          </a:xfrm>
          <a:prstGeom prst="roundRect">
            <a:avLst>
              <a:gd fmla="val 5455" name="adj"/>
            </a:avLst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4489704" y="3044952"/>
            <a:ext cx="3264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Ember Coral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4489704" y="3337560"/>
            <a:ext cx="3264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#FF6B4A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4489704" y="1837944"/>
            <a:ext cx="3264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— energy, CTAs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101584" y="1691640"/>
            <a:ext cx="3593592" cy="2011680"/>
          </a:xfrm>
          <a:prstGeom prst="roundRect">
            <a:avLst>
              <a:gd fmla="val 5455" name="adj"/>
            </a:avLst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 txBox="1"/>
          <p:nvPr/>
        </p:nvSpPr>
        <p:spPr>
          <a:xfrm>
            <a:off x="8266176" y="3044952"/>
            <a:ext cx="3264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Solar Gold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8266176" y="3337560"/>
            <a:ext cx="3264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4162B"/>
                </a:solidFill>
                <a:latin typeface="Courier New"/>
                <a:ea typeface="Courier New"/>
                <a:cs typeface="Courier New"/>
                <a:sym typeface="Courier New"/>
              </a:rPr>
              <a:t>#FFB627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8266176" y="1837944"/>
            <a:ext cx="3264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Tertiary — highlights, spark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548640" y="3977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Neutrals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48640" y="4370832"/>
            <a:ext cx="2606040" cy="1417320"/>
          </a:xfrm>
          <a:prstGeom prst="roundRect">
            <a:avLst>
              <a:gd fmla="val 6452" name="adj"/>
            </a:avLst>
          </a:prstGeom>
          <a:solidFill>
            <a:srgbClr val="14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694944" y="52212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694944" y="547725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C9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4C9E2"/>
                </a:solidFill>
                <a:latin typeface="Courier New"/>
                <a:ea typeface="Courier New"/>
                <a:cs typeface="Courier New"/>
                <a:sym typeface="Courier New"/>
              </a:rPr>
              <a:t>#14162B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337560" y="4370832"/>
            <a:ext cx="2606040" cy="1417320"/>
          </a:xfrm>
          <a:prstGeom prst="roundRect">
            <a:avLst>
              <a:gd fmla="val 6452" name="adj"/>
            </a:avLst>
          </a:prstGeom>
          <a:solidFill>
            <a:srgbClr val="5B61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3483864" y="52212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3483864" y="547725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C9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4C9E2"/>
                </a:solidFill>
                <a:latin typeface="Courier New"/>
                <a:ea typeface="Courier New"/>
                <a:cs typeface="Courier New"/>
                <a:sym typeface="Courier New"/>
              </a:rPr>
              <a:t>#5B6178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126480" y="4370832"/>
            <a:ext cx="2606040" cy="1417320"/>
          </a:xfrm>
          <a:prstGeom prst="roundRect">
            <a:avLst>
              <a:gd fmla="val 6452" name="adj"/>
            </a:avLst>
          </a:prstGeom>
          <a:solidFill>
            <a:srgbClr val="EE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6272784" y="52212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Mist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6272784" y="547725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#EEF0F7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8915400" y="4370832"/>
            <a:ext cx="260604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EEF0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9061704" y="52212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White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9061704" y="547725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#FFFFFF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NovaMart Brand Guidelines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0908792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05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4A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Data visualization palette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Matches NovaMart_PowerBI_Theme.json — apply via View → Themes → Browse for themes in Power BI Desktop.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48640" y="1965960"/>
            <a:ext cx="1243584" cy="1554480"/>
          </a:xfrm>
          <a:prstGeom prst="roundRect">
            <a:avLst>
              <a:gd fmla="val 7353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548640" y="3191256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#1E2A5E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938528" y="1965960"/>
            <a:ext cx="1243584" cy="1554480"/>
          </a:xfrm>
          <a:prstGeom prst="roundRect">
            <a:avLst>
              <a:gd fmla="val 7353" name="adj"/>
            </a:avLst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1938528" y="3191256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#FF6B4A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328416" y="1965960"/>
            <a:ext cx="1243584" cy="1554480"/>
          </a:xfrm>
          <a:prstGeom prst="roundRect">
            <a:avLst>
              <a:gd fmla="val 7353" name="adj"/>
            </a:avLst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3328416" y="3191256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14162B"/>
                </a:solidFill>
                <a:latin typeface="Courier New"/>
                <a:ea typeface="Courier New"/>
                <a:cs typeface="Courier New"/>
                <a:sym typeface="Courier New"/>
              </a:rPr>
              <a:t>#FFB627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718304" y="1965960"/>
            <a:ext cx="1243584" cy="1554480"/>
          </a:xfrm>
          <a:prstGeom prst="roundRect">
            <a:avLst>
              <a:gd fmla="val 7353" name="adj"/>
            </a:avLst>
          </a:prstGeom>
          <a:solidFill>
            <a:srgbClr val="2BB6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4718304" y="3191256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#2BB673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108192" y="1965960"/>
            <a:ext cx="1243584" cy="1554480"/>
          </a:xfrm>
          <a:prstGeom prst="roundRect">
            <a:avLst>
              <a:gd fmla="val 7353" name="adj"/>
            </a:avLst>
          </a:prstGeom>
          <a:solidFill>
            <a:srgbClr val="2F9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6108192" y="3191256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#2F9BE0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7498080" y="1965960"/>
            <a:ext cx="1243584" cy="1554480"/>
          </a:xfrm>
          <a:prstGeom prst="roundRect">
            <a:avLst>
              <a:gd fmla="val 7353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7498080" y="3191256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#8B5CF6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8887968" y="1965960"/>
            <a:ext cx="1243584" cy="1554480"/>
          </a:xfrm>
          <a:prstGeom prst="roundRect">
            <a:avLst>
              <a:gd fmla="val 7353" name="adj"/>
            </a:avLst>
          </a:prstGeom>
          <a:solidFill>
            <a:srgbClr val="E85D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8887968" y="3191256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#E85D75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0277856" y="1965960"/>
            <a:ext cx="1243584" cy="1554480"/>
          </a:xfrm>
          <a:prstGeom prst="roundRect">
            <a:avLst>
              <a:gd fmla="val 7353" name="adj"/>
            </a:avLst>
          </a:prstGeom>
          <a:solidFill>
            <a:srgbClr val="5B61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10277856" y="3191256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#5B6178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548640" y="3886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Semantic colors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48640" y="4279392"/>
            <a:ext cx="3593592" cy="1508760"/>
          </a:xfrm>
          <a:prstGeom prst="roundRect">
            <a:avLst>
              <a:gd fmla="val 7273" name="adj"/>
            </a:avLst>
          </a:prstGeom>
          <a:solidFill>
            <a:srgbClr val="2BB6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713232" y="4443984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713232" y="4809744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2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2FA"/>
                </a:solidFill>
                <a:latin typeface="Calibri"/>
                <a:ea typeface="Calibri"/>
                <a:cs typeface="Calibri"/>
                <a:sym typeface="Calibri"/>
              </a:rPr>
              <a:t>Positive variance, targets met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325112" y="4279392"/>
            <a:ext cx="3593592" cy="1508760"/>
          </a:xfrm>
          <a:prstGeom prst="roundRect">
            <a:avLst>
              <a:gd fmla="val 7273" name="adj"/>
            </a:avLst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4489704" y="4443984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Neutral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4489704" y="4809744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Watch items, on‑track‑ish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101584" y="4279392"/>
            <a:ext cx="3593592" cy="1508760"/>
          </a:xfrm>
          <a:prstGeom prst="roundRect">
            <a:avLst>
              <a:gd fmla="val 7273" name="adj"/>
            </a:avLst>
          </a:prstGeom>
          <a:solidFill>
            <a:srgbClr val="E85D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8266176" y="4443984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8266176" y="4809744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2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2FA"/>
                </a:solidFill>
                <a:latin typeface="Calibri"/>
                <a:ea typeface="Calibri"/>
                <a:cs typeface="Calibri"/>
                <a:sym typeface="Calibri"/>
              </a:rPr>
              <a:t>Negative variance, missed targets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NovaMart Brand Guidelines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10908792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06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4A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Typography system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48640" y="1691640"/>
            <a:ext cx="5394960" cy="2286000"/>
          </a:xfrm>
          <a:prstGeom prst="roundRect">
            <a:avLst>
              <a:gd fmla="val 5600" name="adj"/>
            </a:avLst>
          </a:prstGeom>
          <a:solidFill>
            <a:srgbClr val="EE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822960" y="178308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5E"/>
              </a:buClr>
              <a:buSzPts val="7200"/>
              <a:buFont typeface="Poppins"/>
              <a:buNone/>
            </a:pPr>
            <a:r>
              <a:rPr b="1" i="0" lang="en-US" sz="7200" u="none" cap="none" strike="noStrike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rPr>
              <a:t>Aa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822960" y="32004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Poppins Bold / Medium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822960" y="35204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Display — logo wordmark, slide titles, big stat callouts.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217920" y="1691640"/>
            <a:ext cx="5422392" cy="2286000"/>
          </a:xfrm>
          <a:prstGeom prst="roundRect">
            <a:avLst>
              <a:gd fmla="val 5600" name="adj"/>
            </a:avLst>
          </a:prstGeom>
          <a:solidFill>
            <a:srgbClr val="EE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6492240" y="178308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6492240" y="32004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Inter Regular / Medium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6492240" y="35204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Body — paragraphs, labels, tables. Fallback: Segoe UI, Calibri.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548640" y="4343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Slide / report title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4846320" y="4343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36–44 pt · Poppins Bold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548640" y="48006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Section header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4846320" y="48006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20–24 pt · Poppins Medium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548640" y="52578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Body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4846320" y="5257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14–16 pt · Inter Regular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548640" y="57150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Caption / label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4846320" y="5715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10–12 pt · Inter Medium, muted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NovaMart Brand Guidelines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10908792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07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4A"/>
                </a:solidFill>
                <a:latin typeface="Courier New"/>
                <a:ea typeface="Courier New"/>
                <a:cs typeface="Courier New"/>
                <a:sym typeface="Courier New"/>
              </a:rPr>
              <a:t>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Power BI report canvas background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48640" y="1645920"/>
            <a:ext cx="7680960" cy="4434840"/>
          </a:xfrm>
          <a:prstGeom prst="roundRect">
            <a:avLst>
              <a:gd fmla="val 2062" name="adj"/>
            </a:avLst>
          </a:prstGeom>
          <a:solidFill>
            <a:srgbClr val="14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ovaMart_Canvas_Background.png"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691640"/>
            <a:ext cx="7589520" cy="427024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 txBox="1"/>
          <p:nvPr/>
        </p:nvSpPr>
        <p:spPr>
          <a:xfrm>
            <a:off x="8458200" y="17830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A5E"/>
                </a:solidFill>
                <a:latin typeface="Courier New"/>
                <a:ea typeface="Courier New"/>
                <a:cs typeface="Courier New"/>
                <a:sym typeface="Courier New"/>
              </a:rPr>
              <a:t>NovaMart_Canvas_Background.svg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8458200" y="22860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4A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8732520" y="228600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1920×1080 — matches the default Power BI report page size.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8458200" y="30632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4A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8732520" y="306324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Center stays quiet so visuals and slicers read cleanly on top.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8458200" y="384048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4A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8732520" y="384048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Apply via Format page → Canvas background → Add image.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8458200" y="46177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4A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8732520" y="461772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Use on title and section‑divider pages; keep dense data pages on white.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NovaMart Brand Guidelines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10908792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08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0F7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4A"/>
                </a:solidFill>
                <a:latin typeface="Courier New"/>
                <a:ea typeface="Courier New"/>
                <a:cs typeface="Courier New"/>
                <a:sym typeface="Courier New"/>
              </a:rPr>
              <a:t>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In practice — a dashboard header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fmla="val 10526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ovaMart_Mark.png" id="226" name="Google Shape;2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874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1"/>
          <p:cNvSpPr txBox="1"/>
          <p:nvPr/>
        </p:nvSpPr>
        <p:spPr>
          <a:xfrm>
            <a:off x="1371600" y="1856232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NovaMart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4206240" y="19933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B627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5440680" y="19933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C9E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C9E2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6675120" y="19933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C9E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C9E2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7909560" y="19933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C9E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C9E2"/>
                </a:solidFill>
                <a:latin typeface="Calibri"/>
                <a:ea typeface="Calibri"/>
                <a:cs typeface="Calibri"/>
                <a:sym typeface="Calibri"/>
              </a:rPr>
              <a:t>Stores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548640" y="2880360"/>
            <a:ext cx="2615184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548640" y="2880360"/>
            <a:ext cx="109728" cy="1417320"/>
          </a:xfrm>
          <a:prstGeom prst="roundRect">
            <a:avLst>
              <a:gd fmla="val 16667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804672" y="3035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Total Sales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804672" y="331012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$18.4M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3346704" y="2880360"/>
            <a:ext cx="2615184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346704" y="2880360"/>
            <a:ext cx="109728" cy="1417320"/>
          </a:xfrm>
          <a:prstGeom prst="roundRect">
            <a:avLst>
              <a:gd fmla="val 16667" name="adj"/>
            </a:avLst>
          </a:prstGeom>
          <a:solidFill>
            <a:srgbClr val="2BB6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3602736" y="3035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Profit Margin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3602736" y="331012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24.6%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144768" y="2880360"/>
            <a:ext cx="2615184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144768" y="2880360"/>
            <a:ext cx="109728" cy="1417320"/>
          </a:xfrm>
          <a:prstGeom prst="roundRect">
            <a:avLst>
              <a:gd fmla="val 16667" name="adj"/>
            </a:avLst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6400800" y="3035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6400800" y="331012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62,180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8942832" y="2880360"/>
            <a:ext cx="2615184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8942832" y="2880360"/>
            <a:ext cx="109728" cy="1417320"/>
          </a:xfrm>
          <a:prstGeom prst="roundRect">
            <a:avLst>
              <a:gd fmla="val 16667" name="adj"/>
            </a:avLst>
          </a:prstGeom>
          <a:solidFill>
            <a:srgbClr val="FFB6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 txBox="1"/>
          <p:nvPr/>
        </p:nvSpPr>
        <p:spPr>
          <a:xfrm>
            <a:off x="9198864" y="3035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YoY Growth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9198864" y="331012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14162B"/>
                </a:solidFill>
                <a:latin typeface="Poppins"/>
                <a:ea typeface="Poppins"/>
                <a:cs typeface="Poppins"/>
                <a:sym typeface="Poppins"/>
              </a:rPr>
              <a:t>+8.2%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48640" y="4526280"/>
            <a:ext cx="11091672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804672" y="470916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Monthly sales trend — indigo primary series, coral prior‑year comparison, gold target line.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822960" y="5509260"/>
            <a:ext cx="548640" cy="388620"/>
          </a:xfrm>
          <a:prstGeom prst="roundRect">
            <a:avLst>
              <a:gd fmla="val 7059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1719072" y="5353812"/>
            <a:ext cx="548640" cy="544068"/>
          </a:xfrm>
          <a:prstGeom prst="roundRect">
            <a:avLst>
              <a:gd fmla="val 5042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2615184" y="5470398"/>
            <a:ext cx="548640" cy="427482"/>
          </a:xfrm>
          <a:prstGeom prst="roundRect">
            <a:avLst>
              <a:gd fmla="val 6417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3511296" y="5237226"/>
            <a:ext cx="548640" cy="660654"/>
          </a:xfrm>
          <a:prstGeom prst="roundRect">
            <a:avLst>
              <a:gd fmla="val 5000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407408" y="5392674"/>
            <a:ext cx="548640" cy="505206"/>
          </a:xfrm>
          <a:prstGeom prst="roundRect">
            <a:avLst>
              <a:gd fmla="val 5430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5303520" y="5159502"/>
            <a:ext cx="548640" cy="738378"/>
          </a:xfrm>
          <a:prstGeom prst="roundRect">
            <a:avLst>
              <a:gd fmla="val 5000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6199632" y="5276088"/>
            <a:ext cx="548640" cy="621792"/>
          </a:xfrm>
          <a:prstGeom prst="roundRect">
            <a:avLst>
              <a:gd fmla="val 5000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7095744" y="5120640"/>
            <a:ext cx="548640" cy="777240"/>
          </a:xfrm>
          <a:prstGeom prst="roundRect">
            <a:avLst>
              <a:gd fmla="val 5000" name="adj"/>
            </a:avLst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7991856" y="5314950"/>
            <a:ext cx="548640" cy="582930"/>
          </a:xfrm>
          <a:prstGeom prst="roundRect">
            <a:avLst>
              <a:gd fmla="val 5000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8887968" y="5198364"/>
            <a:ext cx="548640" cy="699516"/>
          </a:xfrm>
          <a:prstGeom prst="roundRect">
            <a:avLst>
              <a:gd fmla="val 5000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9784080" y="5431536"/>
            <a:ext cx="548640" cy="466344"/>
          </a:xfrm>
          <a:prstGeom prst="roundRect">
            <a:avLst>
              <a:gd fmla="val 5882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10680192" y="5260543"/>
            <a:ext cx="548640" cy="637337"/>
          </a:xfrm>
          <a:prstGeom prst="roundRect">
            <a:avLst>
              <a:gd fmla="val 5000" name="adj"/>
            </a:avLst>
          </a:prstGeom>
          <a:solidFill>
            <a:srgbClr val="1E2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NovaMart Brand Guidelines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10908792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B6178"/>
                </a:solidFill>
                <a:latin typeface="Courier New"/>
                <a:ea typeface="Courier New"/>
                <a:cs typeface="Courier New"/>
                <a:sym typeface="Courier New"/>
              </a:rPr>
              <a:t>09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B627"/>
                </a:solidFill>
                <a:latin typeface="Courier New"/>
                <a:ea typeface="Courier New"/>
                <a:cs typeface="Courier New"/>
                <a:sym typeface="Courier New"/>
              </a:rPr>
              <a:t>ASSET LIBRARY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Everything ships together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548640" y="1737360"/>
            <a:ext cx="11091672" cy="621792"/>
          </a:xfrm>
          <a:prstGeom prst="roundRect">
            <a:avLst>
              <a:gd fmla="val 11765" name="adj"/>
            </a:avLst>
          </a:prstGeom>
          <a:solidFill>
            <a:srgbClr val="1B26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 txBox="1"/>
          <p:nvPr/>
        </p:nvSpPr>
        <p:spPr>
          <a:xfrm>
            <a:off x="822960" y="181965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B627"/>
                </a:solidFill>
                <a:latin typeface="Courier New"/>
                <a:ea typeface="Courier New"/>
                <a:cs typeface="Courier New"/>
                <a:sym typeface="Courier New"/>
              </a:rPr>
              <a:t>NovaMart_Logo.svg / .png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5212080" y="1819656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C9E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C9E2"/>
                </a:solidFill>
                <a:latin typeface="Calibri"/>
                <a:ea typeface="Calibri"/>
                <a:cs typeface="Calibri"/>
                <a:sym typeface="Calibri"/>
              </a:rPr>
              <a:t>Primary lockup — mark + wordmark, transparent background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48640" y="2514600"/>
            <a:ext cx="11091672" cy="621792"/>
          </a:xfrm>
          <a:prstGeom prst="roundRect">
            <a:avLst>
              <a:gd fmla="val 11765" name="adj"/>
            </a:avLst>
          </a:prstGeom>
          <a:solidFill>
            <a:srgbClr val="1B26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 txBox="1"/>
          <p:nvPr/>
        </p:nvSpPr>
        <p:spPr>
          <a:xfrm>
            <a:off x="822960" y="259689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B627"/>
                </a:solidFill>
                <a:latin typeface="Courier New"/>
                <a:ea typeface="Courier New"/>
                <a:cs typeface="Courier New"/>
                <a:sym typeface="Courier New"/>
              </a:rPr>
              <a:t>NovaMart_Mark.svg / .png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5212080" y="2596896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C9E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C9E2"/>
                </a:solidFill>
                <a:latin typeface="Calibri"/>
                <a:ea typeface="Calibri"/>
                <a:cs typeface="Calibri"/>
                <a:sym typeface="Calibri"/>
              </a:rPr>
              <a:t>Icon‑only mark for favicons, avatars, app tiles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548640" y="3291840"/>
            <a:ext cx="11091672" cy="621792"/>
          </a:xfrm>
          <a:prstGeom prst="roundRect">
            <a:avLst>
              <a:gd fmla="val 11765" name="adj"/>
            </a:avLst>
          </a:prstGeom>
          <a:solidFill>
            <a:srgbClr val="1B26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 txBox="1"/>
          <p:nvPr/>
        </p:nvSpPr>
        <p:spPr>
          <a:xfrm>
            <a:off x="822960" y="337413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B627"/>
                </a:solidFill>
                <a:latin typeface="Courier New"/>
                <a:ea typeface="Courier New"/>
                <a:cs typeface="Courier New"/>
                <a:sym typeface="Courier New"/>
              </a:rPr>
              <a:t>NovaMart_Canvas_Background.svg / .png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5212080" y="3374136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C9E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C9E2"/>
                </a:solidFill>
                <a:latin typeface="Calibri"/>
                <a:ea typeface="Calibri"/>
                <a:cs typeface="Calibri"/>
                <a:sym typeface="Calibri"/>
              </a:rPr>
              <a:t>1920×1080 branded Power BI report background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48640" y="4069080"/>
            <a:ext cx="11091672" cy="621792"/>
          </a:xfrm>
          <a:prstGeom prst="roundRect">
            <a:avLst>
              <a:gd fmla="val 11765" name="adj"/>
            </a:avLst>
          </a:prstGeom>
          <a:solidFill>
            <a:srgbClr val="1B26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822960" y="415137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B627"/>
                </a:solidFill>
                <a:latin typeface="Courier New"/>
                <a:ea typeface="Courier New"/>
                <a:cs typeface="Courier New"/>
                <a:sym typeface="Courier New"/>
              </a:rPr>
              <a:t>NovaMart_PowerBI_Theme.json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5212080" y="4151376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C9E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C9E2"/>
                </a:solidFill>
                <a:latin typeface="Calibri"/>
                <a:ea typeface="Calibri"/>
                <a:cs typeface="Calibri"/>
                <a:sym typeface="Calibri"/>
              </a:rPr>
              <a:t>Custom Power BI report theme — colors, fonts, visual defaults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48640" y="4846320"/>
            <a:ext cx="11091672" cy="621792"/>
          </a:xfrm>
          <a:prstGeom prst="roundRect">
            <a:avLst>
              <a:gd fmla="val 11765" name="adj"/>
            </a:avLst>
          </a:prstGeom>
          <a:solidFill>
            <a:srgbClr val="1B26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 txBox="1"/>
          <p:nvPr/>
        </p:nvSpPr>
        <p:spPr>
          <a:xfrm>
            <a:off x="822960" y="492861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B627"/>
                </a:solidFill>
                <a:latin typeface="Courier New"/>
                <a:ea typeface="Courier New"/>
                <a:cs typeface="Courier New"/>
                <a:sym typeface="Courier New"/>
              </a:rPr>
              <a:t>NovaMart_Brand_Guidelines.pptx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5212080" y="4928616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C9E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C9E2"/>
                </a:solidFill>
                <a:latin typeface="Calibri"/>
                <a:ea typeface="Calibri"/>
                <a:cs typeface="Calibri"/>
                <a:sym typeface="Calibri"/>
              </a:rPr>
              <a:t>This document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C4"/>
                </a:solidFill>
                <a:latin typeface="Calibri"/>
                <a:ea typeface="Calibri"/>
                <a:cs typeface="Calibri"/>
                <a:sym typeface="Calibri"/>
              </a:rPr>
              <a:t>Prepared by Data With Pankaj  · 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youtube.com/@datawithpankaj_com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10908792" y="63550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C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A3C4"/>
                </a:solidFill>
                <a:latin typeface="Courier New"/>
                <a:ea typeface="Courier New"/>
                <a:cs typeface="Courier New"/>
                <a:sym typeface="Courier New"/>
              </a:rPr>
              <a:t>10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