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9081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51960" y="0"/>
            <a:ext cx="347472" cy="5143500"/>
          </a:xfrm>
          <a:prstGeom prst="rect">
            <a:avLst/>
          </a:prstGeom>
          <a:solidFill>
            <a:srgbClr val="CC3A3E"/>
          </a:solidFill>
          <a:ln w="12700">
            <a:solidFill>
              <a:srgbClr val="CC3A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7548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airbnb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92608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727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Developer Guidelines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  ·  Charts  ·  Typography  ·  Layout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926080"/>
            <a:ext cx="3657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9443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&amp; Apartments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3191256"/>
            <a:ext cx="3657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2095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3456432"/>
            <a:ext cx="3657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4747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721608"/>
            <a:ext cx="3657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7398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986784"/>
            <a:ext cx="3657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0050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Stays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4736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|  2026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438912"/>
            <a:ext cx="3931920" cy="4334256"/>
          </a:xfrm>
          <a:prstGeom prst="rect">
            <a:avLst/>
          </a:prstGeom>
          <a:solidFill>
            <a:srgbClr val="2A2A2A"/>
          </a:solidFill>
          <a:ln w="12700">
            <a:solidFill>
              <a:srgbClr val="3535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58521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47488" y="987552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Brand Colour Palette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47488" y="1325880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Background &amp; Surface Colours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47488" y="1664208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Chart Colour Usage Rules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47488" y="200253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Bar &amp; Column Chart Standards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47488" y="2340864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Line &amp; Area Chart Standards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47488" y="2679192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Donut, Pie &amp; KPI Card Standards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47488" y="3017520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Table &amp; Matrix Standards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47488" y="3355848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Typography &amp; Font Rules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47488" y="369417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Layout &amp; Spacing Guidelines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47488" y="4032504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Do's &amp; Don'ts Quick Reference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airbnb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08960" y="118872"/>
            <a:ext cx="5687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Brand Colour Palette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 ·  Power BI Developer Guidelines  ·  Colours  ·  Charts  ·  Typography  ·  Layout  ·  Version 1.0  | 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Airbnb brand colours — use these exclusively across all Power BI reports.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COLOURS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1316736"/>
            <a:ext cx="1298448" cy="713232"/>
          </a:xfrm>
          <a:prstGeom prst="rect">
            <a:avLst/>
          </a:prstGeom>
          <a:solidFill>
            <a:srgbClr val="FF5A5F"/>
          </a:solidFill>
          <a:ln w="6350">
            <a:solidFill>
              <a:srgbClr val="FF5A5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20482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#FF5A5F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224942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Rausch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43230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brand colour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764792" y="1316736"/>
            <a:ext cx="1298448" cy="713232"/>
          </a:xfrm>
          <a:prstGeom prst="rect">
            <a:avLst/>
          </a:prstGeom>
          <a:solidFill>
            <a:srgbClr val="00A699"/>
          </a:solidFill>
          <a:ln w="6350">
            <a:solidFill>
              <a:srgbClr val="00A699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64792" y="20482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#00A699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64792" y="224942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Babu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64792" y="243230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teal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182112" y="1316736"/>
            <a:ext cx="1298448" cy="713232"/>
          </a:xfrm>
          <a:prstGeom prst="rect">
            <a:avLst/>
          </a:prstGeom>
          <a:solidFill>
            <a:srgbClr val="FC642D"/>
          </a:solidFill>
          <a:ln w="6350">
            <a:solidFill>
              <a:srgbClr val="FC642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82112" y="20482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#FC642D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182112" y="224942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182112" y="243230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accent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599432" y="1316736"/>
            <a:ext cx="1298448" cy="713232"/>
          </a:xfrm>
          <a:prstGeom prst="rect">
            <a:avLst/>
          </a:prstGeom>
          <a:solidFill>
            <a:srgbClr val="484848"/>
          </a:solidFill>
          <a:ln w="6350">
            <a:solidFill>
              <a:srgbClr val="48484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99432" y="20482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#484848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99432" y="224942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99432" y="243230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backgrounds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016752" y="1316736"/>
            <a:ext cx="1298448" cy="713232"/>
          </a:xfrm>
          <a:prstGeom prst="rect">
            <a:avLst/>
          </a:prstGeom>
          <a:solidFill>
            <a:srgbClr val="767676"/>
          </a:solidFill>
          <a:ln w="6350">
            <a:solidFill>
              <a:srgbClr val="76767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16752" y="20482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#767676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016752" y="224942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Foggy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16752" y="243230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&amp; muted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434072" y="1316736"/>
            <a:ext cx="129844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34072" y="20482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434072" y="224942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434072" y="243230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backgrounds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65760" y="287121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CHART COLOURS  —  USE IN THIS ORDER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7472" y="3108960"/>
            <a:ext cx="914400" cy="45720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584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#FF5A5F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47472" y="375818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Rausch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47472" y="3913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1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389888" y="3108960"/>
            <a:ext cx="914400" cy="457200"/>
          </a:xfrm>
          <a:prstGeom prst="rect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89888" y="3584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#00A699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389888" y="375818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Babu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389888" y="3913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2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432304" y="3108960"/>
            <a:ext cx="914400" cy="457200"/>
          </a:xfrm>
          <a:prstGeom prst="rect">
            <a:avLst/>
          </a:prstGeom>
          <a:solidFill>
            <a:srgbClr val="FC642D"/>
          </a:solidFill>
          <a:ln w="12700">
            <a:solidFill>
              <a:srgbClr val="FC64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32304" y="3584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#FC642D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432304" y="375818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432304" y="3913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3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474720" y="3108960"/>
            <a:ext cx="914400" cy="457200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0" y="3584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#484848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474720" y="375818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474720" y="3913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517136" y="3108960"/>
            <a:ext cx="91440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17136" y="3584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#8B5CF6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517136" y="375818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517136" y="3913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5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559552" y="3108960"/>
            <a:ext cx="914400" cy="457200"/>
          </a:xfrm>
          <a:prstGeom prst="rect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59552" y="3584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#0072CE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59552" y="375818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559552" y="3913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6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601968" y="3108960"/>
            <a:ext cx="9144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01968" y="3584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#F59E0B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601968" y="375818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601968" y="3913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7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7644384" y="3108960"/>
            <a:ext cx="914400" cy="457200"/>
          </a:xfrm>
          <a:prstGeom prst="rect">
            <a:avLst/>
          </a:prstGeom>
          <a:solidFill>
            <a:srgbClr val="767676"/>
          </a:solidFill>
          <a:ln w="12700">
            <a:solidFill>
              <a:srgbClr val="76767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44384" y="3584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#767676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7644384" y="375818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Foggy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7644384" y="3913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8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65760" y="4187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/ SENTIMENT COLOURS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47472" y="4407408"/>
            <a:ext cx="2395728" cy="347472"/>
          </a:xfrm>
          <a:prstGeom prst="rect">
            <a:avLst/>
          </a:prstGeom>
          <a:solidFill>
            <a:srgbClr val="008489"/>
          </a:solidFill>
          <a:ln w="12700">
            <a:solidFill>
              <a:srgbClr val="00848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7472" y="442569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/ Growth  ·  #008489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47472" y="479145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trend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2926080" y="4407408"/>
            <a:ext cx="239572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926080" y="442569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/ Warning  ·  #F59E0B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926080" y="479145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required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504688" y="4407408"/>
            <a:ext cx="2395728" cy="347472"/>
          </a:xfrm>
          <a:prstGeom prst="rect">
            <a:avLst/>
          </a:prstGeom>
          <a:solidFill>
            <a:srgbClr val="C13515"/>
          </a:solidFill>
          <a:ln w="12700">
            <a:solidFill>
              <a:srgbClr val="C1351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04688" y="442569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/ Decline  ·  #C13515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504688" y="479145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airbnb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08960" y="118872"/>
            <a:ext cx="5687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Background &amp; Surface Colours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 ·  Power BI Developer Guidelines  ·  Colours  ·  Charts  ·  Typography  ·  Layout  ·  Version 1.0  | 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layered surfaces to create depth — page canvas, visual card, alternating rows, headers.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0972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0972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80360" y="109728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38928" y="1097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1353312"/>
            <a:ext cx="8449056" cy="27432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1399032"/>
            <a:ext cx="8449056" cy="502920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1435608"/>
            <a:ext cx="822960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14630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Background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325880" y="16733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canvas (all pages)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880360" y="1435608"/>
            <a:ext cx="5916168" cy="38404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481328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slide.background = { color: 'F7F7F7' }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1956816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19842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Background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325880" y="21945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/ chart area fill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80360" y="1956816"/>
            <a:ext cx="5916168" cy="38404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2002536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chartArea: { fill: { color: 'FFFFFF' } }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7472" y="2441448"/>
            <a:ext cx="8449056" cy="502920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2478024"/>
            <a:ext cx="82296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25054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Row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25880" y="27157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table rows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80360" y="2478024"/>
            <a:ext cx="5916168" cy="38404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1800" y="2523744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altBackColor: 'FFF0F0'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47472" y="2999232"/>
            <a:ext cx="822960" cy="384048"/>
          </a:xfrm>
          <a:prstGeom prst="rect">
            <a:avLst/>
          </a:prstGeom>
          <a:solidFill>
            <a:srgbClr val="EBEBE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5880" y="30266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/ Grid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325880" y="32369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borders &amp; gridlines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880360" y="2999232"/>
            <a:ext cx="5916168" cy="38404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71800" y="3044952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line: { color: 'EBEBEB' }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47472" y="3483864"/>
            <a:ext cx="8449056" cy="502920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" y="3520440"/>
            <a:ext cx="822960" cy="384048"/>
          </a:xfrm>
          <a:prstGeom prst="rect">
            <a:avLst/>
          </a:prstGeom>
          <a:solidFill>
            <a:srgbClr val="FFF9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25880" y="35478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Strip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325880" y="37581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backgrounds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880360" y="3520440"/>
            <a:ext cx="5916168" cy="38404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71800" y="3566160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fill: { color: 'FFF9F6' }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7472" y="4041648"/>
            <a:ext cx="822960" cy="384048"/>
          </a:xfrm>
          <a:prstGeom prst="rect">
            <a:avLst/>
          </a:prstGeom>
          <a:solidFill>
            <a:srgbClr val="FF5A5F"/>
          </a:solidFill>
          <a:ln w="6350">
            <a:solidFill>
              <a:srgbClr val="FF5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25880" y="4069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Fill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325880" y="42793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headers, page header bar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880360" y="4041648"/>
            <a:ext cx="5916168" cy="384048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71800" y="4087368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backColor: 'FF5A5F' + color: 'FFFFFF'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airbnb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08960" y="118872"/>
            <a:ext cx="5687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Chart Colour Usage Rules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 ·  Power BI Developer Guidelines  ·  Colours  ·  Charts  ·  Typography  ·  Layout  ·  Version 1.0  | 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colour application across all chart types — follow these rules without exception.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DATA PALETTE — USE IN THIS ORDER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29844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1499616"/>
            <a:ext cx="987552" cy="5029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02082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#FF5A5F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7472" y="220370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Rausch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7472" y="238658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408176" y="129844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408176" y="1499616"/>
            <a:ext cx="987552" cy="502920"/>
          </a:xfrm>
          <a:prstGeom prst="rect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08176" y="202082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#00A699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08176" y="220370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Babu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08176" y="238658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468880" y="129844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68880" y="1499616"/>
            <a:ext cx="987552" cy="502920"/>
          </a:xfrm>
          <a:prstGeom prst="rect">
            <a:avLst/>
          </a:prstGeom>
          <a:solidFill>
            <a:srgbClr val="FC642D"/>
          </a:solidFill>
          <a:ln w="12700">
            <a:solidFill>
              <a:srgbClr val="FC64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202082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#FC642D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468880" y="220370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468880" y="238658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529584" y="129844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29584" y="1499616"/>
            <a:ext cx="987552" cy="502920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9584" y="202082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#484848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529584" y="220370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529584" y="238658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4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90288" y="129844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90288" y="1499616"/>
            <a:ext cx="987552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0288" y="202082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#8B5CF6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590288" y="220370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590288" y="238658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5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650992" y="129844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50992" y="1499616"/>
            <a:ext cx="987552" cy="502920"/>
          </a:xfrm>
          <a:prstGeom prst="rect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50992" y="202082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#0072CE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650992" y="220370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650992" y="238658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6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711696" y="129844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11696" y="1499616"/>
            <a:ext cx="9875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11696" y="202082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#F59E0B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711696" y="220370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711696" y="238658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7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772400" y="129844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772400" y="1499616"/>
            <a:ext cx="987552" cy="502920"/>
          </a:xfrm>
          <a:prstGeom prst="rect">
            <a:avLst/>
          </a:prstGeom>
          <a:solidFill>
            <a:srgbClr val="767676"/>
          </a:solidFill>
          <a:ln w="12700">
            <a:solidFill>
              <a:srgbClr val="76767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0" y="202082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#767676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772400" y="220370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Foggy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772400" y="238658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8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65760" y="2697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COLOURING RULES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47472" y="2944368"/>
            <a:ext cx="4279392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7472" y="2944368"/>
            <a:ext cx="50292" cy="49377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" y="29900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Series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5488" y="3191256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Rausch (#FF5A5F). Never use Foggy Gray as primary fill — it is for neutral accents only.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47472" y="3511296"/>
            <a:ext cx="4279392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47472" y="3511296"/>
            <a:ext cx="50292" cy="493776"/>
          </a:xfrm>
          <a:prstGeom prst="rect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" y="35570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Series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5488" y="3758184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8-colour palette order (left to right). Never assign colours randomly.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47472" y="4078224"/>
            <a:ext cx="4279392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7472" y="4078224"/>
            <a:ext cx="50292" cy="493776"/>
          </a:xfrm>
          <a:prstGeom prst="rect">
            <a:avLst/>
          </a:prstGeom>
          <a:solidFill>
            <a:srgbClr val="008489"/>
          </a:solidFill>
          <a:ln w="12700">
            <a:solidFill>
              <a:srgbClr val="00848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" y="41239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/ Bad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75488" y="432511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(#008489) = positive. Red (#C13515) = negative. Never reverse — universally understood.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809744" y="2944368"/>
            <a:ext cx="4279392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9744" y="2944368"/>
            <a:ext cx="50292" cy="493776"/>
          </a:xfrm>
          <a:prstGeom prst="rect">
            <a:avLst/>
          </a:prstGeom>
          <a:solidFill>
            <a:srgbClr val="FC642D"/>
          </a:solidFill>
          <a:ln w="12700">
            <a:solidFill>
              <a:srgbClr val="FC642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0" y="29900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937760" y="3191256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Arches (#FC642D) is for highlighting one selected bar only. Not a standard primary series colour.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809744" y="3511296"/>
            <a:ext cx="4279392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09744" y="3511296"/>
            <a:ext cx="50292" cy="493776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37760" y="35570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937760" y="3758184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Increase: #008489 teal. Decrease: #C13515 red. Total: #484848 Hof. Always use this mapping.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809744" y="4078224"/>
            <a:ext cx="4279392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09744" y="4078224"/>
            <a:ext cx="50292" cy="493776"/>
          </a:xfrm>
          <a:prstGeom prst="rect">
            <a:avLst/>
          </a:prstGeom>
          <a:solidFill>
            <a:srgbClr val="C13515"/>
          </a:solidFill>
          <a:ln w="12700">
            <a:solidFill>
              <a:srgbClr val="C1351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37760" y="41239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937760" y="432511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gradient fills. Solid colours only. Gradients reduce legibility on printed reports.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airbnb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08960" y="118872"/>
            <a:ext cx="5687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Bar &amp; Column Chart Standards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 ·  Power BI Developer Guidelines  ·  Colours  ·  Charts  ·  Typography  ·  Layout  ·  Version 1.0  | 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these exact settings to every bar and column chart across the report.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042416"/>
            <a:ext cx="5029200" cy="3657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133856"/>
            <a:ext cx="4718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Bookings by Category (Thousands)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572768" y="1536192"/>
            <a:ext cx="3072384" cy="36576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60020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18304" y="16002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820K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572768" y="2066544"/>
            <a:ext cx="1798469" cy="365760"/>
          </a:xfrm>
          <a:prstGeom prst="rect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13055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Room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44389" y="21305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572768" y="2596896"/>
            <a:ext cx="1086575" cy="365760"/>
          </a:xfrm>
          <a:prstGeom prst="rect">
            <a:avLst/>
          </a:prstGeom>
          <a:solidFill>
            <a:srgbClr val="FC642D"/>
          </a:solidFill>
          <a:ln w="12700">
            <a:solidFill>
              <a:srgbClr val="FC64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266090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32495" y="266090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290K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572768" y="3127248"/>
            <a:ext cx="543287" cy="365760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19125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89207" y="31912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145K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572768" y="3657600"/>
            <a:ext cx="355947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372160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01867" y="372160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95K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0" y="1042416"/>
            <a:ext cx="3310128" cy="3657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0" y="1042416"/>
            <a:ext cx="3310128" cy="292608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107899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SPECIFICATIONS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0" y="1389888"/>
            <a:ext cx="3310128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142646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Area: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58000" y="14264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#FFFFFF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77840" y="17373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Colours: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858000" y="173736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order; single = #FF5A5F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86400" y="2011680"/>
            <a:ext cx="3310128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204825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Axis: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858000" y="20482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#767676  |  No gridlines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77840" y="23591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Axis: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858000" y="235915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#767676  |  Gridline #EBEBEB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86400" y="2633472"/>
            <a:ext cx="3310128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267004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Lines: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858000" y="267004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both axis lines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577840" y="298094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Labels: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58000" y="298094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 |  #484848  |  9pt Calibri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86400" y="3255264"/>
            <a:ext cx="3310128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0" y="32918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858000" y="32918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single series  |  Bottom multi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77840" y="360273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Order: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858000" y="360273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Descending by value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486400" y="3877056"/>
            <a:ext cx="3310128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77840" y="391363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Border: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58000" y="391363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1pt #EBEBEB with light outer shadow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577840" y="42245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58000" y="422452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11pt #484848 above each visual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airbnb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08960" y="118872"/>
            <a:ext cx="5687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Line &amp; Area Chart Standards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 ·  Power BI Developer Guidelines  ·  Colours  ·  Charts  ·  Typography  ·  Layout  ·  Version 1.0  | 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 and time-series — line chart for comparisons, area chart for single-series fill.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042416"/>
            <a:ext cx="5486400" cy="2944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13385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Revenue Trend — Current Year vs Prior Year ($B)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3270876"/>
            <a:ext cx="5212080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" y="317943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$2B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02920" y="2744538"/>
            <a:ext cx="5212080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" y="265309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$3B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02920" y="2218201"/>
            <a:ext cx="5212080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" y="2126761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$4B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2920" y="1691863"/>
            <a:ext cx="5212080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" y="1600423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$5B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56616" y="368503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830441" y="368503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304267" y="368503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778092" y="368503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251918" y="368503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2725743" y="368503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199569" y="368503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673394" y="368503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147220" y="368503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4621045" y="368503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5094871" y="368503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568696" y="368503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02920" y="3218242"/>
            <a:ext cx="473825" cy="0"/>
          </a:xfrm>
          <a:prstGeom prst="line">
            <a:avLst/>
          </a:prstGeom>
          <a:noFill/>
          <a:ln w="31750">
            <a:solidFill>
              <a:srgbClr val="FF5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481411"/>
            <a:ext cx="473825" cy="0"/>
          </a:xfrm>
          <a:prstGeom prst="line">
            <a:avLst/>
          </a:prstGeom>
          <a:noFill/>
          <a:ln w="19050">
            <a:solidFill>
              <a:srgbClr val="00A699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976745" y="3112974"/>
            <a:ext cx="473825" cy="0"/>
          </a:xfrm>
          <a:prstGeom prst="line">
            <a:avLst/>
          </a:prstGeom>
          <a:noFill/>
          <a:ln w="31750">
            <a:solidFill>
              <a:srgbClr val="FF5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6745" y="3376143"/>
            <a:ext cx="473825" cy="0"/>
          </a:xfrm>
          <a:prstGeom prst="line">
            <a:avLst/>
          </a:prstGeom>
          <a:noFill/>
          <a:ln w="19050">
            <a:solidFill>
              <a:srgbClr val="00A699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450571" y="2849806"/>
            <a:ext cx="473825" cy="105268"/>
          </a:xfrm>
          <a:prstGeom prst="line">
            <a:avLst/>
          </a:prstGeom>
          <a:noFill/>
          <a:ln w="31750">
            <a:solidFill>
              <a:srgbClr val="FF5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50571" y="3218242"/>
            <a:ext cx="473825" cy="52634"/>
          </a:xfrm>
          <a:prstGeom prst="line">
            <a:avLst/>
          </a:prstGeom>
          <a:noFill/>
          <a:ln w="19050">
            <a:solidFill>
              <a:srgbClr val="00A699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924396" y="2955073"/>
            <a:ext cx="473825" cy="0"/>
          </a:xfrm>
          <a:prstGeom prst="line">
            <a:avLst/>
          </a:prstGeom>
          <a:noFill/>
          <a:ln w="31750">
            <a:solidFill>
              <a:srgbClr val="FF5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24396" y="3270876"/>
            <a:ext cx="473825" cy="0"/>
          </a:xfrm>
          <a:prstGeom prst="line">
            <a:avLst/>
          </a:prstGeom>
          <a:noFill/>
          <a:ln w="19050">
            <a:solidFill>
              <a:srgbClr val="00A699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2398222" y="2744538"/>
            <a:ext cx="473825" cy="0"/>
          </a:xfrm>
          <a:prstGeom prst="line">
            <a:avLst/>
          </a:prstGeom>
          <a:noFill/>
          <a:ln w="31750">
            <a:solidFill>
              <a:srgbClr val="FF5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98222" y="3112974"/>
            <a:ext cx="473825" cy="0"/>
          </a:xfrm>
          <a:prstGeom prst="line">
            <a:avLst/>
          </a:prstGeom>
          <a:noFill/>
          <a:ln w="19050">
            <a:solidFill>
              <a:srgbClr val="00A699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2872047" y="2481369"/>
            <a:ext cx="473825" cy="157901"/>
          </a:xfrm>
          <a:prstGeom prst="line">
            <a:avLst/>
          </a:prstGeom>
          <a:noFill/>
          <a:ln w="31750">
            <a:solidFill>
              <a:srgbClr val="FF5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72047" y="2902439"/>
            <a:ext cx="473825" cy="105268"/>
          </a:xfrm>
          <a:prstGeom prst="line">
            <a:avLst/>
          </a:prstGeom>
          <a:noFill/>
          <a:ln w="19050">
            <a:solidFill>
              <a:srgbClr val="00A699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3345873" y="2639271"/>
            <a:ext cx="473825" cy="0"/>
          </a:xfrm>
          <a:prstGeom prst="line">
            <a:avLst/>
          </a:prstGeom>
          <a:noFill/>
          <a:ln w="31750">
            <a:solidFill>
              <a:srgbClr val="FF5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45873" y="3007707"/>
            <a:ext cx="473825" cy="0"/>
          </a:xfrm>
          <a:prstGeom prst="line">
            <a:avLst/>
          </a:prstGeom>
          <a:noFill/>
          <a:ln w="19050">
            <a:solidFill>
              <a:srgbClr val="00A699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3819698" y="2323468"/>
            <a:ext cx="473825" cy="0"/>
          </a:xfrm>
          <a:prstGeom prst="line">
            <a:avLst/>
          </a:prstGeom>
          <a:noFill/>
          <a:ln w="31750">
            <a:solidFill>
              <a:srgbClr val="FF5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19698" y="2797172"/>
            <a:ext cx="473825" cy="0"/>
          </a:xfrm>
          <a:prstGeom prst="line">
            <a:avLst/>
          </a:prstGeom>
          <a:noFill/>
          <a:ln w="19050">
            <a:solidFill>
              <a:srgbClr val="00A699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4293524" y="2165567"/>
            <a:ext cx="473825" cy="0"/>
          </a:xfrm>
          <a:prstGeom prst="line">
            <a:avLst/>
          </a:prstGeom>
          <a:noFill/>
          <a:ln w="31750">
            <a:solidFill>
              <a:srgbClr val="FF5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93524" y="2691904"/>
            <a:ext cx="473825" cy="0"/>
          </a:xfrm>
          <a:prstGeom prst="line">
            <a:avLst/>
          </a:prstGeom>
          <a:noFill/>
          <a:ln w="19050">
            <a:solidFill>
              <a:srgbClr val="00A699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4767349" y="2007666"/>
            <a:ext cx="473825" cy="0"/>
          </a:xfrm>
          <a:prstGeom prst="line">
            <a:avLst/>
          </a:prstGeom>
          <a:noFill/>
          <a:ln w="31750">
            <a:solidFill>
              <a:srgbClr val="FF5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67349" y="2586637"/>
            <a:ext cx="473825" cy="0"/>
          </a:xfrm>
          <a:prstGeom prst="line">
            <a:avLst/>
          </a:prstGeom>
          <a:noFill/>
          <a:ln w="19050">
            <a:solidFill>
              <a:srgbClr val="00A699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5241175" y="1797131"/>
            <a:ext cx="473825" cy="0"/>
          </a:xfrm>
          <a:prstGeom prst="line">
            <a:avLst/>
          </a:prstGeom>
          <a:noFill/>
          <a:ln w="31750">
            <a:solidFill>
              <a:srgbClr val="FF5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41175" y="2428736"/>
            <a:ext cx="473825" cy="0"/>
          </a:xfrm>
          <a:prstGeom prst="line">
            <a:avLst/>
          </a:prstGeom>
          <a:noFill/>
          <a:ln w="19050">
            <a:solidFill>
              <a:srgbClr val="00A699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594360" y="1536192"/>
            <a:ext cx="256032" cy="9144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6968" y="14996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Revenue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240280" y="1536192"/>
            <a:ext cx="256032" cy="91440"/>
          </a:xfrm>
          <a:prstGeom prst="rect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32888" y="14996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Revenue (LY)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943600" y="1042416"/>
            <a:ext cx="1517904" cy="1243584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943600" y="1042416"/>
            <a:ext cx="50292" cy="1243584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71616" y="1133856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Thickness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071616" y="1426464"/>
            <a:ext cx="1316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2.5pt primary line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1.5pt secondary / LY line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943600" y="2359152"/>
            <a:ext cx="1517904" cy="1243584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943600" y="2359152"/>
            <a:ext cx="50292" cy="1243584"/>
          </a:xfrm>
          <a:prstGeom prst="rect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71616" y="245059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071616" y="2743200"/>
            <a:ext cx="1316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 (lineSmooth: true)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trends easier to read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943600" y="3675888"/>
            <a:ext cx="1517904" cy="1243584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943600" y="3675888"/>
            <a:ext cx="50292" cy="1243584"/>
          </a:xfrm>
          <a:prstGeom prst="rect">
            <a:avLst/>
          </a:prstGeom>
          <a:solidFill>
            <a:srgbClr val="FC642D"/>
          </a:solidFill>
          <a:ln w="12700">
            <a:solidFill>
              <a:srgbClr val="FC642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071616" y="376732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071616" y="4059936"/>
            <a:ext cx="1316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year: #FF5A5F Rausch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year (LY): #00A699 Babu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534656" y="1042416"/>
            <a:ext cx="1517904" cy="1243584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7534656" y="1042416"/>
            <a:ext cx="50292" cy="1243584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62672" y="1133856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662672" y="1426464"/>
            <a:ext cx="1316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 OFF for dense datasets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label at final point only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534656" y="2359152"/>
            <a:ext cx="1517904" cy="1243584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7534656" y="2359152"/>
            <a:ext cx="50292" cy="12435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62672" y="245059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Area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7662672" y="2743200"/>
            <a:ext cx="1316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charts: fill at 30% opacity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single-series trend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534656" y="3675888"/>
            <a:ext cx="1517904" cy="1243584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7534656" y="3675888"/>
            <a:ext cx="50292" cy="1243584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662672" y="376732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7662672" y="4059936"/>
            <a:ext cx="1316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no gridlines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axis: gridline #EBEBEB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airbnb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08960" y="118872"/>
            <a:ext cx="5687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Donut, Pie &amp; KPI Card Standards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 ·  Power BI Developer Guidelines  ·  Colours  ·  Charts  ·  Typography  ·  Layout  ·  Version 1.0  | 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are the most prominent visuals — apply these rules to all cards and ratio charts.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042416"/>
            <a:ext cx="3931920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133856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Size: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64208" y="141732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55–60%  (DOUGHNUT, not PIE)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16733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64208" y="167335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order, max 6 segments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19293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664208" y="192938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% only, hide category name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1854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664208" y="218541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Bottom, 8.5pt Calibri #767676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4414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Gap: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64208" y="244144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2–3% gap between slices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6974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Segments: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664208" y="269748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max — group rest as 'Other'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38912" y="3145536"/>
            <a:ext cx="1499616" cy="420624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584448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38912" y="374904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975104" y="3145536"/>
            <a:ext cx="859536" cy="420624"/>
          </a:xfrm>
          <a:prstGeom prst="rect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584448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975104" y="3749040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Room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871216" y="3145536"/>
            <a:ext cx="530352" cy="420624"/>
          </a:xfrm>
          <a:prstGeom prst="rect">
            <a:avLst/>
          </a:prstGeom>
          <a:solidFill>
            <a:srgbClr val="FC642D"/>
          </a:solidFill>
          <a:ln w="12700">
            <a:solidFill>
              <a:srgbClr val="FC64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71216" y="358444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871216" y="374904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438144" y="3145536"/>
            <a:ext cx="384048" cy="420624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8144" y="35844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38144" y="37490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462272" y="1078992"/>
            <a:ext cx="4334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 STANDARD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62272" y="1335024"/>
            <a:ext cx="1426464" cy="1389888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62272" y="1335024"/>
            <a:ext cx="1426464" cy="3657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53712" y="142646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35424" y="16824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$9.9B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535424" y="20848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18.4%  YoY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71032" y="1335024"/>
            <a:ext cx="1426464" cy="1389888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971032" y="1335024"/>
            <a:ext cx="1426464" cy="3657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62472" y="142646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Nights Booked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044184" y="16824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448M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044184" y="20848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14.2%  YoY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79792" y="1335024"/>
            <a:ext cx="1426464" cy="1389888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479792" y="1335024"/>
            <a:ext cx="1426464" cy="3657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71232" y="142646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Rate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552944" y="16824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$174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7552944" y="20848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3.6%  YoY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462272" y="2852928"/>
            <a:ext cx="4334256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462272" y="2852928"/>
            <a:ext cx="4334256" cy="274320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2889504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 FORMATTING RULES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90288" y="3163824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Value: 28pt Bold — Calibri — #484848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590288" y="3401568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Label: 10pt Regular — Calibri — #767676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90288" y="3639312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Change label: 12pt Bold — Teal ▲ / Red ▼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590288" y="3877056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Background: White #FFFFFF — no gradient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590288" y="4114800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Border: 1pt #EBEBEB — no drop shadow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590288" y="4352544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Top accent bar: 4px #FF5A5F Rausch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airbnb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08960" y="118872"/>
            <a:ext cx="5687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Table &amp; Matrix Standards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 ·  Power BI Developer Guidelines  ·  Colours  ·  Charts  ·  Typography  ·  Layout  ·  Version 1.0  | 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all default Power BI table styling — never leave tables in the out-of-the-box state.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078992"/>
            <a:ext cx="1463040" cy="347472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133856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10512" y="1078992"/>
            <a:ext cx="1280160" cy="347472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65376" y="113385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($B)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90672" y="1078992"/>
            <a:ext cx="1280160" cy="347472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113385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(M)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70832" y="1078992"/>
            <a:ext cx="914400" cy="347472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25696" y="113385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($)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85232" y="1078992"/>
            <a:ext cx="1115568" cy="347472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113385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1426464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146304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10512" y="142646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65376" y="146304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$5.4B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90672" y="142646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45536" y="146304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70832" y="1426464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25696" y="146304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$168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85232" y="1426464"/>
            <a:ext cx="111556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0096" y="146304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" y="1828800"/>
            <a:ext cx="146304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186537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Room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10512" y="1828800"/>
            <a:ext cx="128016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65376" y="1865376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$2.7B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090672" y="1828800"/>
            <a:ext cx="128016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45536" y="1865376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70832" y="1828800"/>
            <a:ext cx="91440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25696" y="186537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285232" y="1828800"/>
            <a:ext cx="1115568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0096" y="1865376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+12.8%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7472" y="2231136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" y="226771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10512" y="223113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65376" y="2267712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$1.0B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090672" y="223113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45536" y="2267712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370832" y="223113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25696" y="226771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285232" y="2231136"/>
            <a:ext cx="111556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40096" y="2267712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+24.6%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47472" y="2633472"/>
            <a:ext cx="146304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" y="267004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810512" y="2633472"/>
            <a:ext cx="128016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65376" y="267004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$0.5B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090672" y="2633472"/>
            <a:ext cx="128016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45536" y="267004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14M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370832" y="2633472"/>
            <a:ext cx="91440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25696" y="267004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285232" y="2633472"/>
            <a:ext cx="1115568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40096" y="2670048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+31.5%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47472" y="3035808"/>
            <a:ext cx="146304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2336" y="307238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810512" y="3035808"/>
            <a:ext cx="128016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65376" y="307238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$9.9B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090672" y="3035808"/>
            <a:ext cx="128016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45536" y="307238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448M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370832" y="3035808"/>
            <a:ext cx="914400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25696" y="30723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$174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285232" y="3035808"/>
            <a:ext cx="1115568" cy="384048"/>
          </a:xfrm>
          <a:prstGeom prst="rect">
            <a:avLst/>
          </a:prstGeom>
          <a:solidFill>
            <a:srgbClr val="FFF0F0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40096" y="307238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+18.4%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089904" y="1078992"/>
            <a:ext cx="2706624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089904" y="1078992"/>
            <a:ext cx="2706624" cy="292608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81344" y="111556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SPECIFICATIONS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089904" y="1389888"/>
            <a:ext cx="2706624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81344" y="142646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Row: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7223760" y="142646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Fill: #FF5A5F  |  Text: White Bold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181344" y="17373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Rows: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223760" y="17373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Odd: #FFFFFF  |  Even: #FAFAFA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089904" y="2011680"/>
            <a:ext cx="2706624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81344" y="204825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Row: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223760" y="2048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Fill: #FFF0F0  |  Text: #FF5A5F Bold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6181344" y="235915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Numbers: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223760" y="23591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Right-align  |  Currency: right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089904" y="2633472"/>
            <a:ext cx="2706624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81344" y="267004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223760" y="26700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Left-align category columns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6181344" y="298094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Positive: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7223760" y="29809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#008489 teal (growth values)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089904" y="3255264"/>
            <a:ext cx="2706624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181344" y="329184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223760" y="32918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#C13515 red (decline values)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6181344" y="360273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Gridlines: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7223760" y="36027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Horizontal: #EBEBEB  0.5pt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6089904" y="3877056"/>
            <a:ext cx="2706624" cy="31089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81344" y="391363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Vertical: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7223760" y="39136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all vertical gridlines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6181344" y="422452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Height: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7223760" y="42245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0.3" — no cramped rows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airbnb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08960" y="118872"/>
            <a:ext cx="5687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Typography &amp; Font Rules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 ·  Power BI Developer Guidelines  ·  Colours  ·  Charts  ·  Typography  ·  Layout  ·  Version 1.0  | 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is the only permitted font. Follow the size hierarchy exactly — never mix typefaces.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SCALE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1353312"/>
            <a:ext cx="4133088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353312"/>
            <a:ext cx="50292" cy="7315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4264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34640" y="14630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28pt  Bold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34640" y="17739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 Value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2157984"/>
            <a:ext cx="4133088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157984"/>
            <a:ext cx="50292" cy="7315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231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by Type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34640" y="22677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13pt  Bold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34640" y="25786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Title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2962656"/>
            <a:ext cx="4133088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962656"/>
            <a:ext cx="50292" cy="7315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0358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Overview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34640" y="30723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12pt  Bold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34640" y="3383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3767328"/>
            <a:ext cx="4133088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3767328"/>
            <a:ext cx="50292" cy="7315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840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 Feb  Mar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38770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10pt  Regular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834640" y="41879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Labels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1353312"/>
            <a:ext cx="4133088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353312"/>
            <a:ext cx="50292" cy="7315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14264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50608" y="14630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10pt  Regular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150608" y="17739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Labels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2157984"/>
            <a:ext cx="4133088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157984"/>
            <a:ext cx="50292" cy="7315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2231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50608" y="22677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10pt  Regular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150608" y="25786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Body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2962656"/>
            <a:ext cx="4133088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2962656"/>
            <a:ext cx="50292" cy="7315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91456" y="30358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50608" y="30723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10pt  Bold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150608" y="3383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Header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3767328"/>
            <a:ext cx="4133088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3767328"/>
            <a:ext cx="50292" cy="7315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91456" y="3840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/ Caption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50608" y="38770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9pt   Regular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150608" y="41879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47472" y="4535424"/>
            <a:ext cx="8449056" cy="256032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5537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FORMATTING STANDARDS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200400" y="45537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revenue: $9.9B or $1.2T   |   Small: $174 (no abbrev under $10K)   |   Percentages: 18.4% (1 decimal)   |   YoY: +18.4% or -3.2% (show sign)   |   Units: 448M or 448,000K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airbnb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08960" y="118872"/>
            <a:ext cx="5687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Layout &amp; Spacing Guidelines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 ·  Power BI Developer Guidelines  ·  Colours  ·  Charts  ·  Typography  ·  Layout  ·  Version 1.0  | 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spacing and alignment make the report feel polished and professional.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078992"/>
            <a:ext cx="2606040" cy="3712464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078992"/>
            <a:ext cx="2606040" cy="292608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1556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SIZE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81328" y="1463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 × 720 px  (16:9)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17739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via: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81328" y="1773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&gt; Page view &gt; Page size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81328" y="2084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 px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3957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81328" y="2395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 px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27066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81328" y="27066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16:9 standard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3127248"/>
            <a:ext cx="2606040" cy="27432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1868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MARGINS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0.15" from all canvas edges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visual should touch the border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visuals: 0.10" minimum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27248" y="1078992"/>
            <a:ext cx="5669280" cy="3712464"/>
          </a:xfrm>
          <a:prstGeom prst="rect">
            <a:avLst/>
          </a:prstGeom>
          <a:solidFill>
            <a:srgbClr val="FFFFFF"/>
          </a:solidFill>
          <a:ln w="10160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1152144"/>
            <a:ext cx="5431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CANVAS ANATOMY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1444752"/>
            <a:ext cx="5431536" cy="40233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1517904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Header  —  Rausch #FF5A5F  |  height: 50px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46120" y="1901952"/>
            <a:ext cx="996696" cy="640080"/>
          </a:xfrm>
          <a:prstGeom prst="rect">
            <a:avLst/>
          </a:prstGeom>
          <a:solidFill>
            <a:srgbClr val="FFF9F6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1901952"/>
            <a:ext cx="996696" cy="3657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34256" y="1901952"/>
            <a:ext cx="996696" cy="640080"/>
          </a:xfrm>
          <a:prstGeom prst="rect">
            <a:avLst/>
          </a:prstGeom>
          <a:solidFill>
            <a:srgbClr val="FFF9F6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34256" y="1901952"/>
            <a:ext cx="996696" cy="3657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22392" y="1901952"/>
            <a:ext cx="996696" cy="640080"/>
          </a:xfrm>
          <a:prstGeom prst="rect">
            <a:avLst/>
          </a:prstGeom>
          <a:solidFill>
            <a:srgbClr val="FFF9F6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22392" y="1901952"/>
            <a:ext cx="996696" cy="3657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10528" y="1901952"/>
            <a:ext cx="996696" cy="640080"/>
          </a:xfrm>
          <a:prstGeom prst="rect">
            <a:avLst/>
          </a:prstGeom>
          <a:solidFill>
            <a:srgbClr val="FFF9F6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10528" y="1901952"/>
            <a:ext cx="996696" cy="3657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98664" y="1901952"/>
            <a:ext cx="996696" cy="640080"/>
          </a:xfrm>
          <a:prstGeom prst="rect">
            <a:avLst/>
          </a:prstGeom>
          <a:solidFill>
            <a:srgbClr val="FFF9F6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98664" y="1901952"/>
            <a:ext cx="996696" cy="36576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2578608"/>
            <a:ext cx="5248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Row  —  5 equal-width cards  |  0.1" gap between each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246120" y="2816352"/>
            <a:ext cx="2670048" cy="804672"/>
          </a:xfrm>
          <a:prstGeom prst="rect">
            <a:avLst/>
          </a:prstGeom>
          <a:solidFill>
            <a:srgbClr val="F9F9F9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313639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 (2-col)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07608" y="2816352"/>
            <a:ext cx="2670048" cy="804672"/>
          </a:xfrm>
          <a:prstGeom prst="rect">
            <a:avLst/>
          </a:prstGeom>
          <a:solidFill>
            <a:srgbClr val="F9F9F9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99048" y="313639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 (2-col)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46120" y="3694176"/>
            <a:ext cx="5431536" cy="420624"/>
          </a:xfrm>
          <a:prstGeom prst="rect">
            <a:avLst/>
          </a:prstGeom>
          <a:solidFill>
            <a:srgbClr val="FFF9F6"/>
          </a:solidFill>
          <a:ln w="19050">
            <a:solidFill>
              <a:srgbClr val="FC64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37560" y="3803904"/>
            <a:ext cx="5248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Row  (top or bottom)  —  highlighted border #FC642D Arches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822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airbnb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08960" y="118872"/>
            <a:ext cx="5687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Do's &amp; Don'ts Quick Reference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8595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 ·  Power BI Developer Guidelines  ·  Colours  ·  Charts  ·  Typography  ·  Layout  ·  Version 1.0  | 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7680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this checklist before every publish. Violations of these rules result in rework.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078992"/>
            <a:ext cx="4133088" cy="329184"/>
          </a:xfrm>
          <a:prstGeom prst="rect">
            <a:avLst/>
          </a:prstGeom>
          <a:solidFill>
            <a:srgbClr val="008489"/>
          </a:solidFill>
          <a:ln w="12700">
            <a:solidFill>
              <a:srgbClr val="0084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1556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1517904"/>
            <a:ext cx="201168" cy="201168"/>
          </a:xfrm>
          <a:prstGeom prst="ellipse">
            <a:avLst/>
          </a:prstGeom>
          <a:solidFill>
            <a:srgbClr val="008489"/>
          </a:solidFill>
          <a:ln w="12700">
            <a:solidFill>
              <a:srgbClr val="0084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" y="1499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Rausch (#FF5A5F) as the primary chart colour for all single-series visuals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1847088"/>
            <a:ext cx="201168" cy="201168"/>
          </a:xfrm>
          <a:prstGeom prst="ellipse">
            <a:avLst/>
          </a:prstGeom>
          <a:solidFill>
            <a:srgbClr val="008489"/>
          </a:solidFill>
          <a:ln w="12700">
            <a:solidFill>
              <a:srgbClr val="0084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" y="1828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1810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light background #F7F7F7 to the report canvas — this is a clean white theme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2176272"/>
            <a:ext cx="201168" cy="201168"/>
          </a:xfrm>
          <a:prstGeom prst="ellipse">
            <a:avLst/>
          </a:prstGeom>
          <a:solidFill>
            <a:srgbClr val="008489"/>
          </a:solidFill>
          <a:ln w="12700">
            <a:solidFill>
              <a:srgbClr val="0084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" y="2157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1396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YoY change with teal ▲ / red ▼ colour-coded indicators on all KPI cards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2505456"/>
            <a:ext cx="201168" cy="201168"/>
          </a:xfrm>
          <a:prstGeom prst="ellipse">
            <a:avLst/>
          </a:prstGeom>
          <a:solidFill>
            <a:srgbClr val="008489"/>
          </a:solidFill>
          <a:ln w="12700">
            <a:solidFill>
              <a:srgbClr val="0084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" y="2487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Calibri exclusively — titles bold, body text regular, captions 9pt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2834640"/>
            <a:ext cx="201168" cy="201168"/>
          </a:xfrm>
          <a:prstGeom prst="ellipse">
            <a:avLst/>
          </a:prstGeom>
          <a:solidFill>
            <a:srgbClr val="008489"/>
          </a:solidFill>
          <a:ln w="12700">
            <a:solidFill>
              <a:srgbClr val="00848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" y="28163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27980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bar charts by value descending unless the axis represents time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" y="3163824"/>
            <a:ext cx="201168" cy="201168"/>
          </a:xfrm>
          <a:prstGeom prst="ellipse">
            <a:avLst/>
          </a:prstGeom>
          <a:solidFill>
            <a:srgbClr val="008489"/>
          </a:solidFill>
          <a:ln w="12700">
            <a:solidFill>
              <a:srgbClr val="0084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" y="31455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#008489 teal for positive/growth and #C13515 red for negative/decline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7472" y="3493008"/>
            <a:ext cx="201168" cy="201168"/>
          </a:xfrm>
          <a:prstGeom prst="ellipse">
            <a:avLst/>
          </a:prstGeom>
          <a:solidFill>
            <a:srgbClr val="008489"/>
          </a:solidFill>
          <a:ln w="12700">
            <a:solidFill>
              <a:srgbClr val="0084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" y="3474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3456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0.10" gap between all adjacent visuals — never let visuals touch each other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7472" y="3822192"/>
            <a:ext cx="201168" cy="201168"/>
          </a:xfrm>
          <a:prstGeom prst="ellipse">
            <a:avLst/>
          </a:prstGeom>
          <a:solidFill>
            <a:srgbClr val="008489"/>
          </a:solidFill>
          <a:ln w="12700">
            <a:solidFill>
              <a:srgbClr val="00848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" y="3803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3785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percentage only on donut chart labels — hide category name from labels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7472" y="4151376"/>
            <a:ext cx="201168" cy="201168"/>
          </a:xfrm>
          <a:prstGeom prst="ellipse">
            <a:avLst/>
          </a:prstGeom>
          <a:solidFill>
            <a:srgbClr val="008489"/>
          </a:solidFill>
          <a:ln w="12700">
            <a:solidFill>
              <a:srgbClr val="0084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616" y="4133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conditional formatting on YoY columns in all tables and matrices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7472" y="4480560"/>
            <a:ext cx="201168" cy="201168"/>
          </a:xfrm>
          <a:prstGeom prst="ellipse">
            <a:avLst/>
          </a:prstGeom>
          <a:solidFill>
            <a:srgbClr val="008489"/>
          </a:solidFill>
          <a:ln w="12700">
            <a:solidFill>
              <a:srgbClr val="00848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" y="44622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" y="4443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Abbreviate large numbers: $9.9B or $1.2T — never write $9,900,000,000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1078992"/>
            <a:ext cx="4133088" cy="329184"/>
          </a:xfrm>
          <a:prstGeom prst="rect">
            <a:avLst/>
          </a:prstGeom>
          <a:solidFill>
            <a:srgbClr val="C13515"/>
          </a:solidFill>
          <a:ln w="12700">
            <a:solidFill>
              <a:srgbClr val="C1351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111556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DON'T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1517904"/>
            <a:ext cx="201168" cy="201168"/>
          </a:xfrm>
          <a:prstGeom prst="ellipse">
            <a:avLst/>
          </a:prstGeom>
          <a:solidFill>
            <a:srgbClr val="C13515"/>
          </a:solidFill>
          <a:ln w="12700">
            <a:solidFill>
              <a:srgbClr val="C1351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72584" y="1499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56048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dark or black backgrounds — this report uses a clean warm-white theme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63440" y="1847088"/>
            <a:ext cx="201168" cy="201168"/>
          </a:xfrm>
          <a:prstGeom prst="ellipse">
            <a:avLst/>
          </a:prstGeom>
          <a:solidFill>
            <a:srgbClr val="C13515"/>
          </a:solidFill>
          <a:ln w="12700">
            <a:solidFill>
              <a:srgbClr val="C1351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72584" y="1828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956048" y="1810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mix chart colours randomly — always follow the 8-colour palette order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63440" y="2176272"/>
            <a:ext cx="201168" cy="201168"/>
          </a:xfrm>
          <a:prstGeom prst="ellipse">
            <a:avLst/>
          </a:prstGeom>
          <a:solidFill>
            <a:srgbClr val="C13515"/>
          </a:solidFill>
          <a:ln w="12700">
            <a:solidFill>
              <a:srgbClr val="C1351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72584" y="2157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56048" y="21396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Foggy Gray (#767676) as a standard series colour — neutral accents only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63440" y="2505456"/>
            <a:ext cx="201168" cy="201168"/>
          </a:xfrm>
          <a:prstGeom prst="ellipse">
            <a:avLst/>
          </a:prstGeom>
          <a:solidFill>
            <a:srgbClr val="C13515"/>
          </a:solidFill>
          <a:ln w="12700">
            <a:solidFill>
              <a:srgbClr val="C1351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72584" y="2487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956048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apply gradient fills to any chart area or visual background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63440" y="2834640"/>
            <a:ext cx="201168" cy="201168"/>
          </a:xfrm>
          <a:prstGeom prst="ellipse">
            <a:avLst/>
          </a:prstGeom>
          <a:solidFill>
            <a:srgbClr val="C13515"/>
          </a:solidFill>
          <a:ln w="12700">
            <a:solidFill>
              <a:srgbClr val="C1351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72584" y="28163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956048" y="27980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show more than 6 segments in a donut or pie chart — group excess as 'Other'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663440" y="3163824"/>
            <a:ext cx="201168" cy="201168"/>
          </a:xfrm>
          <a:prstGeom prst="ellipse">
            <a:avLst/>
          </a:prstGeom>
          <a:solidFill>
            <a:srgbClr val="C13515"/>
          </a:solidFill>
          <a:ln w="12700">
            <a:solidFill>
              <a:srgbClr val="C1351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72584" y="31455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956048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centre-align body text or table body values — left/right alignment only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663440" y="3493008"/>
            <a:ext cx="201168" cy="201168"/>
          </a:xfrm>
          <a:prstGeom prst="ellipse">
            <a:avLst/>
          </a:prstGeom>
          <a:solidFill>
            <a:srgbClr val="C13515"/>
          </a:solidFill>
          <a:ln w="12700">
            <a:solidFill>
              <a:srgbClr val="C1351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72584" y="3474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956048" y="3456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leave default Power BI table styling — override header, rows, and totals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663440" y="3822192"/>
            <a:ext cx="201168" cy="201168"/>
          </a:xfrm>
          <a:prstGeom prst="ellipse">
            <a:avLst/>
          </a:prstGeom>
          <a:solidFill>
            <a:srgbClr val="C13515"/>
          </a:solidFill>
          <a:ln w="12700">
            <a:solidFill>
              <a:srgbClr val="C1351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72584" y="3803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956048" y="3785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add decorative drop shadows, glow effects, or 3D chart styles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663440" y="4151376"/>
            <a:ext cx="201168" cy="201168"/>
          </a:xfrm>
          <a:prstGeom prst="ellipse">
            <a:avLst/>
          </a:prstGeom>
          <a:solidFill>
            <a:srgbClr val="C13515"/>
          </a:solidFill>
          <a:ln w="12700">
            <a:solidFill>
              <a:srgbClr val="C1351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72584" y="4133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956048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Arial, Segoe UI, or any font other than Calibri in any visual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663440" y="4480560"/>
            <a:ext cx="201168" cy="201168"/>
          </a:xfrm>
          <a:prstGeom prst="ellipse">
            <a:avLst/>
          </a:prstGeom>
          <a:solidFill>
            <a:srgbClr val="C13515"/>
          </a:solidFill>
          <a:ln w="12700">
            <a:solidFill>
              <a:srgbClr val="C1351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72584" y="44622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956048" y="4443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publish without verifying all slicers are synced across all report pages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1931</Words>
  <Application>Microsoft Office PowerPoint</Application>
  <PresentationFormat>On-screen Show (16:9)</PresentationFormat>
  <Paragraphs>438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Airbnb Power BI Developer Guidelines</dc:title>
  <dc:subject>PptxGenJS Presentation</dc:subject>
  <dc:creator>PptxGenJS</dc:creator>
  <cp:lastModifiedBy>pankaj Namekar</cp:lastModifiedBy>
  <cp:revision>2</cp:revision>
  <dcterms:created xsi:type="dcterms:W3CDTF">2026-04-08T07:35:52Z</dcterms:created>
  <dcterms:modified xsi:type="dcterms:W3CDTF">2026-05-14T08:55:54Z</dcterms:modified>
</cp:coreProperties>
</file>